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DM Sans Medium"/>
      <p:regular r:id="rId17"/>
    </p:embeddedFont>
    <p:embeddedFont>
      <p:font typeface="DM Sans Medium"/>
      <p:regular r:id="rId18"/>
    </p:embeddedFont>
    <p:embeddedFont>
      <p:font typeface="DM Sans Medium"/>
      <p:regular r:id="rId19"/>
    </p:embeddedFont>
    <p:embeddedFont>
      <p:font typeface="DM Sans Medium"/>
      <p:regular r:id="rId20"/>
    </p:embeddedFont>
    <p:embeddedFont>
      <p:font typeface="Inter"/>
      <p:regular r:id="rId21"/>
    </p:embeddedFont>
    <p:embeddedFont>
      <p:font typeface="Inter"/>
      <p:regular r:id="rId22"/>
    </p:embeddedFont>
    <p:embeddedFont>
      <p:font typeface="Inter"/>
      <p:regular r:id="rId23"/>
    </p:embeddedFont>
    <p:embeddedFont>
      <p:font typeface="Inter"/>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32458"/>
          </a:xfrm>
          <a:prstGeom prst="rect">
            <a:avLst/>
          </a:prstGeom>
        </p:spPr>
      </p:pic>
      <p:sp>
        <p:nvSpPr>
          <p:cNvPr id="3" name="Text 0"/>
          <p:cNvSpPr/>
          <p:nvPr/>
        </p:nvSpPr>
        <p:spPr>
          <a:xfrm>
            <a:off x="779383" y="535781"/>
            <a:ext cx="7585234" cy="3653314"/>
          </a:xfrm>
          <a:prstGeom prst="rect">
            <a:avLst/>
          </a:prstGeom>
          <a:noFill/>
          <a:ln/>
        </p:spPr>
        <p:txBody>
          <a:bodyPr wrap="square" lIns="0" tIns="0" rIns="0" bIns="0" rtlCol="0" anchor="t"/>
          <a:lstStyle/>
          <a:p>
            <a:pPr algn="l" indent="0" marL="0">
              <a:lnSpc>
                <a:spcPts val="9550"/>
              </a:lnSpc>
              <a:buNone/>
            </a:pPr>
            <a:r>
              <a:rPr lang="en-US" sz="7650" dirty="0">
                <a:solidFill>
                  <a:srgbClr val="161613"/>
                </a:solidFill>
                <a:latin typeface="DM Sans Medium" pitchFamily="34" charset="0"/>
                <a:ea typeface="DM Sans Medium" pitchFamily="34" charset="-122"/>
                <a:cs typeface="DM Sans Medium" pitchFamily="34" charset="-120"/>
              </a:rPr>
              <a:t>Automatic Washing Machine</a:t>
            </a:r>
            <a:endParaRPr lang="en-US" sz="7650" dirty="0"/>
          </a:p>
        </p:txBody>
      </p:sp>
      <p:sp>
        <p:nvSpPr>
          <p:cNvPr id="4" name="Text 1"/>
          <p:cNvSpPr/>
          <p:nvPr/>
        </p:nvSpPr>
        <p:spPr>
          <a:xfrm>
            <a:off x="779383" y="4481393"/>
            <a:ext cx="6610707" cy="487085"/>
          </a:xfrm>
          <a:prstGeom prst="rect">
            <a:avLst/>
          </a:prstGeom>
          <a:noFill/>
          <a:ln/>
        </p:spPr>
        <p:txBody>
          <a:bodyPr wrap="none" lIns="0" tIns="0" rIns="0" bIns="0" rtlCol="0" anchor="t"/>
          <a:lstStyle/>
          <a:p>
            <a:pPr algn="l" indent="0" marL="0">
              <a:lnSpc>
                <a:spcPts val="3800"/>
              </a:lnSpc>
              <a:buNone/>
            </a:pPr>
            <a:r>
              <a:rPr lang="en-US" sz="3050" dirty="0">
                <a:solidFill>
                  <a:srgbClr val="161613"/>
                </a:solidFill>
                <a:latin typeface="DM Sans Medium" pitchFamily="34" charset="0"/>
                <a:ea typeface="DM Sans Medium" pitchFamily="34" charset="-122"/>
                <a:cs typeface="DM Sans Medium" pitchFamily="34" charset="-120"/>
              </a:rPr>
              <a:t>FPGA-Based Control System Design</a:t>
            </a:r>
            <a:endParaRPr lang="en-US" sz="3050" dirty="0"/>
          </a:p>
        </p:txBody>
      </p:sp>
      <p:sp>
        <p:nvSpPr>
          <p:cNvPr id="5" name="Text 2"/>
          <p:cNvSpPr/>
          <p:nvPr/>
        </p:nvSpPr>
        <p:spPr>
          <a:xfrm>
            <a:off x="779383" y="5260777"/>
            <a:ext cx="7585234" cy="311825"/>
          </a:xfrm>
          <a:prstGeom prst="rect">
            <a:avLst/>
          </a:prstGeom>
          <a:noFill/>
          <a:ln/>
        </p:spPr>
        <p:txBody>
          <a:bodyPr wrap="none" lIns="0" tIns="0" rIns="0" bIns="0" rtlCol="0" anchor="t"/>
          <a:lstStyle/>
          <a:p>
            <a:pPr algn="l" indent="0" marL="0">
              <a:lnSpc>
                <a:spcPts val="2450"/>
              </a:lnSpc>
              <a:buNone/>
            </a:pPr>
            <a:r>
              <a:rPr lang="en-US" sz="1500" dirty="0">
                <a:solidFill>
                  <a:srgbClr val="161613"/>
                </a:solidFill>
                <a:latin typeface="Inter" pitchFamily="34" charset="0"/>
                <a:ea typeface="Inter" pitchFamily="34" charset="-122"/>
                <a:cs typeface="Inter" pitchFamily="34" charset="-120"/>
              </a:rPr>
              <a:t>REDDY SOMA SAI SATYA SNIGDHA (BU21EECE0100200)</a:t>
            </a:r>
            <a:endParaRPr lang="en-US" sz="1500" dirty="0"/>
          </a:p>
        </p:txBody>
      </p:sp>
      <p:sp>
        <p:nvSpPr>
          <p:cNvPr id="6" name="Text 3"/>
          <p:cNvSpPr/>
          <p:nvPr/>
        </p:nvSpPr>
        <p:spPr>
          <a:xfrm>
            <a:off x="779383" y="5791795"/>
            <a:ext cx="7585234" cy="311825"/>
          </a:xfrm>
          <a:prstGeom prst="rect">
            <a:avLst/>
          </a:prstGeom>
          <a:noFill/>
          <a:ln/>
        </p:spPr>
        <p:txBody>
          <a:bodyPr wrap="none" lIns="0" tIns="0" rIns="0" bIns="0" rtlCol="0" anchor="t"/>
          <a:lstStyle/>
          <a:p>
            <a:pPr algn="l" indent="0" marL="0">
              <a:lnSpc>
                <a:spcPts val="2450"/>
              </a:lnSpc>
              <a:buNone/>
            </a:pPr>
            <a:r>
              <a:rPr lang="en-US" sz="1500" dirty="0">
                <a:solidFill>
                  <a:srgbClr val="161613"/>
                </a:solidFill>
                <a:latin typeface="Inter" pitchFamily="34" charset="0"/>
                <a:ea typeface="Inter" pitchFamily="34" charset="-122"/>
                <a:cs typeface="Inter" pitchFamily="34" charset="-120"/>
              </a:rPr>
              <a:t>MONISHA H S (BU22EECE0100439) </a:t>
            </a:r>
            <a:endParaRPr lang="en-US" sz="1500" dirty="0"/>
          </a:p>
        </p:txBody>
      </p:sp>
      <p:sp>
        <p:nvSpPr>
          <p:cNvPr id="7" name="Text 4"/>
          <p:cNvSpPr/>
          <p:nvPr/>
        </p:nvSpPr>
        <p:spPr>
          <a:xfrm>
            <a:off x="779383" y="6322814"/>
            <a:ext cx="7585234" cy="311825"/>
          </a:xfrm>
          <a:prstGeom prst="rect">
            <a:avLst/>
          </a:prstGeom>
          <a:noFill/>
          <a:ln/>
        </p:spPr>
        <p:txBody>
          <a:bodyPr wrap="none" lIns="0" tIns="0" rIns="0" bIns="0" rtlCol="0" anchor="t"/>
          <a:lstStyle/>
          <a:p>
            <a:pPr algn="l" indent="0" marL="0">
              <a:lnSpc>
                <a:spcPts val="2450"/>
              </a:lnSpc>
              <a:buNone/>
            </a:pPr>
            <a:r>
              <a:rPr lang="en-US" sz="1500" dirty="0">
                <a:solidFill>
                  <a:srgbClr val="161613"/>
                </a:solidFill>
                <a:latin typeface="Inter" pitchFamily="34" charset="0"/>
                <a:ea typeface="Inter" pitchFamily="34" charset="-122"/>
                <a:cs typeface="Inter" pitchFamily="34" charset="-120"/>
              </a:rPr>
              <a:t>DHEERAJ LAKSHMAN (BU21EECE0100305) </a:t>
            </a:r>
            <a:endParaRPr lang="en-US" sz="1500" dirty="0"/>
          </a:p>
        </p:txBody>
      </p:sp>
      <p:sp>
        <p:nvSpPr>
          <p:cNvPr id="8" name="Text 5"/>
          <p:cNvSpPr/>
          <p:nvPr/>
        </p:nvSpPr>
        <p:spPr>
          <a:xfrm>
            <a:off x="779383" y="6853833"/>
            <a:ext cx="7585234" cy="311825"/>
          </a:xfrm>
          <a:prstGeom prst="rect">
            <a:avLst/>
          </a:prstGeom>
          <a:noFill/>
          <a:ln/>
        </p:spPr>
        <p:txBody>
          <a:bodyPr wrap="none" lIns="0" tIns="0" rIns="0" bIns="0" rtlCol="0" anchor="t"/>
          <a:lstStyle/>
          <a:p>
            <a:pPr algn="l" indent="0" marL="0">
              <a:lnSpc>
                <a:spcPts val="2450"/>
              </a:lnSpc>
              <a:buNone/>
            </a:pPr>
            <a:r>
              <a:rPr lang="en-US" sz="1500" dirty="0">
                <a:solidFill>
                  <a:srgbClr val="161613"/>
                </a:solidFill>
                <a:latin typeface="Inter" pitchFamily="34" charset="0"/>
                <a:ea typeface="Inter" pitchFamily="34" charset="-122"/>
                <a:cs typeface="Inter" pitchFamily="34" charset="-120"/>
              </a:rPr>
              <a:t>ALLI GOPI (BU21EECE0100161) </a:t>
            </a:r>
            <a:endParaRPr lang="en-US" sz="1500" dirty="0"/>
          </a:p>
        </p:txBody>
      </p:sp>
      <p:sp>
        <p:nvSpPr>
          <p:cNvPr id="9" name="Text 6"/>
          <p:cNvSpPr/>
          <p:nvPr/>
        </p:nvSpPr>
        <p:spPr>
          <a:xfrm>
            <a:off x="779383" y="7384852"/>
            <a:ext cx="7585234" cy="311825"/>
          </a:xfrm>
          <a:prstGeom prst="rect">
            <a:avLst/>
          </a:prstGeom>
          <a:noFill/>
          <a:ln/>
        </p:spPr>
        <p:txBody>
          <a:bodyPr wrap="none" lIns="0" tIns="0" rIns="0" bIns="0" rtlCol="0" anchor="t"/>
          <a:lstStyle/>
          <a:p>
            <a:pPr algn="l" indent="0" marL="0">
              <a:lnSpc>
                <a:spcPts val="2450"/>
              </a:lnSpc>
              <a:buNone/>
            </a:pPr>
            <a:r>
              <a:rPr lang="en-US" sz="1500" dirty="0">
                <a:solidFill>
                  <a:srgbClr val="161613"/>
                </a:solidFill>
                <a:latin typeface="Inter" pitchFamily="34" charset="0"/>
                <a:ea typeface="Inter" pitchFamily="34" charset="-122"/>
                <a:cs typeface="Inter" pitchFamily="34" charset="-120"/>
              </a:rPr>
              <a:t>DARSHAN P (2023007316)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376124"/>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Introduction to Automatic Washing Machines</a:t>
            </a:r>
            <a:endParaRPr lang="en-US" sz="3900" dirty="0"/>
          </a:p>
        </p:txBody>
      </p:sp>
      <p:sp>
        <p:nvSpPr>
          <p:cNvPr id="4" name="Text 1"/>
          <p:cNvSpPr/>
          <p:nvPr/>
        </p:nvSpPr>
        <p:spPr>
          <a:xfrm>
            <a:off x="793790" y="2913936"/>
            <a:ext cx="7556421" cy="127015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Automatic washing machines have revolutionized household chores by automating the entire washing process—from soaking and washing to rinsing and spinning—without constant human intervention. These appliances save time, reduce physical effort, and ensure consistent performance.</a:t>
            </a:r>
            <a:endParaRPr lang="en-US" sz="1550" dirty="0"/>
          </a:p>
        </p:txBody>
      </p:sp>
      <p:sp>
        <p:nvSpPr>
          <p:cNvPr id="5" name="Text 2"/>
          <p:cNvSpPr/>
          <p:nvPr/>
        </p:nvSpPr>
        <p:spPr>
          <a:xfrm>
            <a:off x="793790" y="4407337"/>
            <a:ext cx="7556421" cy="127015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Modern machines incorporate programmable settings, multiple wash cycles, and intelligent sensors that adapt to different fabric types, load sizes, and soil levels. Smart technology enables remote control and monitoring, adding unprecedented convenience to daily laundry routines.</a:t>
            </a:r>
            <a:endParaRPr lang="en-US" sz="1550" dirty="0"/>
          </a:p>
        </p:txBody>
      </p:sp>
      <p:sp>
        <p:nvSpPr>
          <p:cNvPr id="6" name="Text 3"/>
          <p:cNvSpPr/>
          <p:nvPr/>
        </p:nvSpPr>
        <p:spPr>
          <a:xfrm>
            <a:off x="793790" y="5900738"/>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This project explores the key components, design principles, and technological advancements that make automatic washing machines essential modern appliances, examining their development and impact on household efficiency.</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676043"/>
            <a:ext cx="11815048" cy="620078"/>
          </a:xfrm>
          <a:prstGeom prst="rect">
            <a:avLst/>
          </a:prstGeom>
          <a:noFill/>
          <a:ln/>
        </p:spPr>
        <p:txBody>
          <a:bodyPr wrap="none" lIns="0" tIns="0" rIns="0" bIns="0" rtlCol="0" anchor="t"/>
          <a:lstStyle/>
          <a:p>
            <a:pPr algn="l" indent="0" marL="0">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Overview: How Automatic Washing Machines Work</a:t>
            </a:r>
            <a:endParaRPr lang="en-US" sz="3900" dirty="0"/>
          </a:p>
        </p:txBody>
      </p:sp>
      <p:sp>
        <p:nvSpPr>
          <p:cNvPr id="3" name="Text 1"/>
          <p:cNvSpPr/>
          <p:nvPr/>
        </p:nvSpPr>
        <p:spPr>
          <a:xfrm>
            <a:off x="793790" y="2692956"/>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161613"/>
                </a:solidFill>
                <a:latin typeface="DM Sans Light" pitchFamily="34" charset="0"/>
                <a:ea typeface="DM Sans Light" pitchFamily="34" charset="-122"/>
                <a:cs typeface="DM Sans Light" pitchFamily="34" charset="-120"/>
              </a:rPr>
              <a:t>01</a:t>
            </a:r>
            <a:endParaRPr lang="en-US" sz="1550" dirty="0"/>
          </a:p>
        </p:txBody>
      </p:sp>
      <p:sp>
        <p:nvSpPr>
          <p:cNvPr id="4" name="Shape 2"/>
          <p:cNvSpPr/>
          <p:nvPr/>
        </p:nvSpPr>
        <p:spPr>
          <a:xfrm>
            <a:off x="793790" y="3007281"/>
            <a:ext cx="4215289" cy="22860"/>
          </a:xfrm>
          <a:prstGeom prst="rect">
            <a:avLst/>
          </a:prstGeom>
          <a:solidFill>
            <a:srgbClr val="28282F"/>
          </a:solidFill>
          <a:ln/>
        </p:spPr>
      </p:sp>
      <p:sp>
        <p:nvSpPr>
          <p:cNvPr id="5" name="Text 3"/>
          <p:cNvSpPr/>
          <p:nvPr/>
        </p:nvSpPr>
        <p:spPr>
          <a:xfrm>
            <a:off x="793790" y="315218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Water Filling</a:t>
            </a:r>
            <a:endParaRPr lang="en-US" sz="1950" dirty="0"/>
          </a:p>
        </p:txBody>
      </p:sp>
      <p:sp>
        <p:nvSpPr>
          <p:cNvPr id="6" name="Text 4"/>
          <p:cNvSpPr/>
          <p:nvPr/>
        </p:nvSpPr>
        <p:spPr>
          <a:xfrm>
            <a:off x="793790" y="3581400"/>
            <a:ext cx="4215289" cy="95261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The machine automatically fills the tub with the precise amount of water needed for the load size and cycle selected.</a:t>
            </a:r>
            <a:endParaRPr lang="en-US" sz="1550" dirty="0"/>
          </a:p>
        </p:txBody>
      </p:sp>
      <p:sp>
        <p:nvSpPr>
          <p:cNvPr id="7" name="Text 5"/>
          <p:cNvSpPr/>
          <p:nvPr/>
        </p:nvSpPr>
        <p:spPr>
          <a:xfrm>
            <a:off x="5207437" y="2692956"/>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161613"/>
                </a:solidFill>
                <a:latin typeface="DM Sans Light" pitchFamily="34" charset="0"/>
                <a:ea typeface="DM Sans Light" pitchFamily="34" charset="-122"/>
                <a:cs typeface="DM Sans Light" pitchFamily="34" charset="-120"/>
              </a:rPr>
              <a:t>02</a:t>
            </a:r>
            <a:endParaRPr lang="en-US" sz="1550" dirty="0"/>
          </a:p>
        </p:txBody>
      </p:sp>
      <p:sp>
        <p:nvSpPr>
          <p:cNvPr id="8" name="Shape 6"/>
          <p:cNvSpPr/>
          <p:nvPr/>
        </p:nvSpPr>
        <p:spPr>
          <a:xfrm>
            <a:off x="5207437" y="3007281"/>
            <a:ext cx="4215408" cy="22860"/>
          </a:xfrm>
          <a:prstGeom prst="rect">
            <a:avLst/>
          </a:prstGeom>
          <a:solidFill>
            <a:srgbClr val="28282F"/>
          </a:solidFill>
          <a:ln/>
        </p:spPr>
      </p:sp>
      <p:sp>
        <p:nvSpPr>
          <p:cNvPr id="9" name="Text 7"/>
          <p:cNvSpPr/>
          <p:nvPr/>
        </p:nvSpPr>
        <p:spPr>
          <a:xfrm>
            <a:off x="5207437" y="3152180"/>
            <a:ext cx="2517338"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Detergent Dispensing</a:t>
            </a:r>
            <a:endParaRPr lang="en-US" sz="1950" dirty="0"/>
          </a:p>
        </p:txBody>
      </p:sp>
      <p:sp>
        <p:nvSpPr>
          <p:cNvPr id="10" name="Text 8"/>
          <p:cNvSpPr/>
          <p:nvPr/>
        </p:nvSpPr>
        <p:spPr>
          <a:xfrm>
            <a:off x="5207437" y="3581400"/>
            <a:ext cx="4215408" cy="95261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Detergent is automatically added at the optimal time during the wash cycle for maximum cleaning effectiveness.</a:t>
            </a:r>
            <a:endParaRPr lang="en-US" sz="1550" dirty="0"/>
          </a:p>
        </p:txBody>
      </p:sp>
      <p:sp>
        <p:nvSpPr>
          <p:cNvPr id="11" name="Text 9"/>
          <p:cNvSpPr/>
          <p:nvPr/>
        </p:nvSpPr>
        <p:spPr>
          <a:xfrm>
            <a:off x="9621203" y="2692956"/>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161613"/>
                </a:solidFill>
                <a:latin typeface="DM Sans Light" pitchFamily="34" charset="0"/>
                <a:ea typeface="DM Sans Light" pitchFamily="34" charset="-122"/>
                <a:cs typeface="DM Sans Light" pitchFamily="34" charset="-120"/>
              </a:rPr>
              <a:t>03</a:t>
            </a:r>
            <a:endParaRPr lang="en-US" sz="1550" dirty="0"/>
          </a:p>
        </p:txBody>
      </p:sp>
      <p:sp>
        <p:nvSpPr>
          <p:cNvPr id="12" name="Shape 10"/>
          <p:cNvSpPr/>
          <p:nvPr/>
        </p:nvSpPr>
        <p:spPr>
          <a:xfrm>
            <a:off x="9621203" y="3007281"/>
            <a:ext cx="4215289" cy="22860"/>
          </a:xfrm>
          <a:prstGeom prst="rect">
            <a:avLst/>
          </a:prstGeom>
          <a:solidFill>
            <a:srgbClr val="28282F"/>
          </a:solidFill>
          <a:ln/>
        </p:spPr>
      </p:sp>
      <p:sp>
        <p:nvSpPr>
          <p:cNvPr id="13" name="Text 11"/>
          <p:cNvSpPr/>
          <p:nvPr/>
        </p:nvSpPr>
        <p:spPr>
          <a:xfrm>
            <a:off x="9621203" y="315218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Agitation &amp; Washing</a:t>
            </a:r>
            <a:endParaRPr lang="en-US" sz="1950" dirty="0"/>
          </a:p>
        </p:txBody>
      </p:sp>
      <p:sp>
        <p:nvSpPr>
          <p:cNvPr id="14" name="Text 12"/>
          <p:cNvSpPr/>
          <p:nvPr/>
        </p:nvSpPr>
        <p:spPr>
          <a:xfrm>
            <a:off x="9621203" y="3581400"/>
            <a:ext cx="4215289" cy="95261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The motor drives the drum or agitator to thoroughly clean clothes through mechanical action and chemical interaction.</a:t>
            </a:r>
            <a:endParaRPr lang="en-US" sz="1550" dirty="0"/>
          </a:p>
        </p:txBody>
      </p:sp>
      <p:sp>
        <p:nvSpPr>
          <p:cNvPr id="15" name="Text 13"/>
          <p:cNvSpPr/>
          <p:nvPr/>
        </p:nvSpPr>
        <p:spPr>
          <a:xfrm>
            <a:off x="793790" y="4881205"/>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161613"/>
                </a:solidFill>
                <a:latin typeface="DM Sans Light" pitchFamily="34" charset="0"/>
                <a:ea typeface="DM Sans Light" pitchFamily="34" charset="-122"/>
                <a:cs typeface="DM Sans Light" pitchFamily="34" charset="-120"/>
              </a:rPr>
              <a:t>04</a:t>
            </a:r>
            <a:endParaRPr lang="en-US" sz="1550" dirty="0"/>
          </a:p>
        </p:txBody>
      </p:sp>
      <p:sp>
        <p:nvSpPr>
          <p:cNvPr id="16" name="Shape 14"/>
          <p:cNvSpPr/>
          <p:nvPr/>
        </p:nvSpPr>
        <p:spPr>
          <a:xfrm>
            <a:off x="793790" y="5195530"/>
            <a:ext cx="6422112" cy="22860"/>
          </a:xfrm>
          <a:prstGeom prst="rect">
            <a:avLst/>
          </a:prstGeom>
          <a:solidFill>
            <a:srgbClr val="28282F"/>
          </a:solidFill>
          <a:ln/>
        </p:spPr>
      </p:sp>
      <p:sp>
        <p:nvSpPr>
          <p:cNvPr id="17" name="Text 15"/>
          <p:cNvSpPr/>
          <p:nvPr/>
        </p:nvSpPr>
        <p:spPr>
          <a:xfrm>
            <a:off x="793790" y="534042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Rinsing</a:t>
            </a:r>
            <a:endParaRPr lang="en-US" sz="1950" dirty="0"/>
          </a:p>
        </p:txBody>
      </p:sp>
      <p:sp>
        <p:nvSpPr>
          <p:cNvPr id="18" name="Text 16"/>
          <p:cNvSpPr/>
          <p:nvPr/>
        </p:nvSpPr>
        <p:spPr>
          <a:xfrm>
            <a:off x="793790" y="5769650"/>
            <a:ext cx="6422112" cy="63507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Multiple rinse cycles remove detergent residue, ensuring clean and fresh-smelling garments.</a:t>
            </a:r>
            <a:endParaRPr lang="en-US" sz="1550" dirty="0"/>
          </a:p>
        </p:txBody>
      </p:sp>
      <p:sp>
        <p:nvSpPr>
          <p:cNvPr id="19" name="Text 17"/>
          <p:cNvSpPr/>
          <p:nvPr/>
        </p:nvSpPr>
        <p:spPr>
          <a:xfrm>
            <a:off x="7414260" y="4881205"/>
            <a:ext cx="198358" cy="248007"/>
          </a:xfrm>
          <a:prstGeom prst="rect">
            <a:avLst/>
          </a:prstGeom>
          <a:noFill/>
          <a:ln/>
        </p:spPr>
        <p:txBody>
          <a:bodyPr wrap="none" lIns="0" tIns="0" rIns="0" bIns="0" rtlCol="0" anchor="t"/>
          <a:lstStyle/>
          <a:p>
            <a:pPr algn="l" indent="0" marL="0">
              <a:lnSpc>
                <a:spcPts val="2500"/>
              </a:lnSpc>
              <a:buNone/>
            </a:pPr>
            <a:r>
              <a:rPr lang="en-US" sz="1550" dirty="0">
                <a:solidFill>
                  <a:srgbClr val="161613"/>
                </a:solidFill>
                <a:latin typeface="DM Sans Light" pitchFamily="34" charset="0"/>
                <a:ea typeface="DM Sans Light" pitchFamily="34" charset="-122"/>
                <a:cs typeface="DM Sans Light" pitchFamily="34" charset="-120"/>
              </a:rPr>
              <a:t>05</a:t>
            </a:r>
            <a:endParaRPr lang="en-US" sz="1550" dirty="0"/>
          </a:p>
        </p:txBody>
      </p:sp>
      <p:sp>
        <p:nvSpPr>
          <p:cNvPr id="20" name="Shape 18"/>
          <p:cNvSpPr/>
          <p:nvPr/>
        </p:nvSpPr>
        <p:spPr>
          <a:xfrm>
            <a:off x="7414260" y="5195530"/>
            <a:ext cx="6422231" cy="22860"/>
          </a:xfrm>
          <a:prstGeom prst="rect">
            <a:avLst/>
          </a:prstGeom>
          <a:solidFill>
            <a:srgbClr val="28282F"/>
          </a:solidFill>
          <a:ln/>
        </p:spPr>
      </p:sp>
      <p:sp>
        <p:nvSpPr>
          <p:cNvPr id="21" name="Text 19"/>
          <p:cNvSpPr/>
          <p:nvPr/>
        </p:nvSpPr>
        <p:spPr>
          <a:xfrm>
            <a:off x="7414260" y="5340429"/>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Spinning &amp; Drying</a:t>
            </a:r>
            <a:endParaRPr lang="en-US" sz="1950" dirty="0"/>
          </a:p>
        </p:txBody>
      </p:sp>
      <p:sp>
        <p:nvSpPr>
          <p:cNvPr id="22" name="Text 20"/>
          <p:cNvSpPr/>
          <p:nvPr/>
        </p:nvSpPr>
        <p:spPr>
          <a:xfrm>
            <a:off x="7414260" y="5769650"/>
            <a:ext cx="6422231" cy="63507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High-speed spinning removes excess water, significantly reducing drying time and energy consumption.</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0905"/>
          </a:xfrm>
          <a:prstGeom prst="rect">
            <a:avLst/>
          </a:prstGeom>
        </p:spPr>
      </p:pic>
      <p:sp>
        <p:nvSpPr>
          <p:cNvPr id="3" name="Text 0"/>
          <p:cNvSpPr/>
          <p:nvPr/>
        </p:nvSpPr>
        <p:spPr>
          <a:xfrm>
            <a:off x="793790" y="3659743"/>
            <a:ext cx="11430000" cy="620078"/>
          </a:xfrm>
          <a:prstGeom prst="rect">
            <a:avLst/>
          </a:prstGeom>
          <a:noFill/>
          <a:ln/>
        </p:spPr>
        <p:txBody>
          <a:bodyPr wrap="none" lIns="0" tIns="0" rIns="0" bIns="0" rtlCol="0" anchor="t"/>
          <a:lstStyle/>
          <a:p>
            <a:pPr algn="l" indent="0" marL="0">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Methodology: Software &amp; Hardware Components</a:t>
            </a:r>
            <a:endParaRPr lang="en-US" sz="3900" dirty="0"/>
          </a:p>
        </p:txBody>
      </p:sp>
      <p:sp>
        <p:nvSpPr>
          <p:cNvPr id="4" name="Text 1"/>
          <p:cNvSpPr/>
          <p:nvPr/>
        </p:nvSpPr>
        <p:spPr>
          <a:xfrm>
            <a:off x="793790" y="4775835"/>
            <a:ext cx="2637592"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Software: Xilinx Vivado</a:t>
            </a:r>
            <a:endParaRPr lang="en-US" sz="1950" dirty="0"/>
          </a:p>
        </p:txBody>
      </p:sp>
      <p:sp>
        <p:nvSpPr>
          <p:cNvPr id="5" name="Text 2"/>
          <p:cNvSpPr/>
          <p:nvPr/>
        </p:nvSpPr>
        <p:spPr>
          <a:xfrm>
            <a:off x="793790" y="5284351"/>
            <a:ext cx="6279356" cy="1587698"/>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An advanced FPGA design suite supporting Verilog, VHDL, and high-level synthesis. Vivado enables design entry, simulation, debugging, and bitstream programming—essential for designing the washing machine's control logic and validating functionality before hardware deployment.</a:t>
            </a:r>
            <a:endParaRPr lang="en-US" sz="1550" dirty="0"/>
          </a:p>
        </p:txBody>
      </p:sp>
      <p:sp>
        <p:nvSpPr>
          <p:cNvPr id="6" name="Text 3"/>
          <p:cNvSpPr/>
          <p:nvPr/>
        </p:nvSpPr>
        <p:spPr>
          <a:xfrm>
            <a:off x="7564874" y="4775835"/>
            <a:ext cx="2752963"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Hardware: FPGA Boards</a:t>
            </a:r>
            <a:endParaRPr lang="en-US" sz="1950" dirty="0"/>
          </a:p>
        </p:txBody>
      </p:sp>
      <p:sp>
        <p:nvSpPr>
          <p:cNvPr id="7" name="Text 4"/>
          <p:cNvSpPr/>
          <p:nvPr/>
        </p:nvSpPr>
        <p:spPr>
          <a:xfrm>
            <a:off x="7564874" y="5284351"/>
            <a:ext cx="6279356" cy="1587698"/>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The Nexys 4 DDR Artix-7 FPGA board features a high-capacity FPGA, generous external memory, USB/Ethernet ports, and built-in peripherals including accelerometers and temperature sensors—ideal for hosting complex control systems without additional components.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0905"/>
          </a:xfrm>
          <a:prstGeom prst="rect">
            <a:avLst/>
          </a:prstGeom>
        </p:spPr>
      </p:pic>
      <p:sp>
        <p:nvSpPr>
          <p:cNvPr id="3" name="Text 0"/>
          <p:cNvSpPr/>
          <p:nvPr/>
        </p:nvSpPr>
        <p:spPr>
          <a:xfrm>
            <a:off x="793790" y="4261247"/>
            <a:ext cx="8387715" cy="620078"/>
          </a:xfrm>
          <a:prstGeom prst="rect">
            <a:avLst/>
          </a:prstGeom>
          <a:noFill/>
          <a:ln/>
        </p:spPr>
        <p:txBody>
          <a:bodyPr wrap="none" lIns="0" tIns="0" rIns="0" bIns="0" rtlCol="0" anchor="t"/>
          <a:lstStyle/>
          <a:p>
            <a:pPr algn="l" indent="0" marL="0">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Block Diagram: System Architecture</a:t>
            </a:r>
            <a:endParaRPr lang="en-US" sz="3900" dirty="0"/>
          </a:p>
        </p:txBody>
      </p:sp>
      <p:sp>
        <p:nvSpPr>
          <p:cNvPr id="4" name="Text 1"/>
          <p:cNvSpPr/>
          <p:nvPr/>
        </p:nvSpPr>
        <p:spPr>
          <a:xfrm>
            <a:off x="793790" y="5178981"/>
            <a:ext cx="13042821" cy="127015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The block diagram illustrates the complete system architecture, showing how the FPGA control unit manages all washing machine operations. Input sensors (door close, water level, detergent status, cycle timeout, spin timeout) feed data to the controller, which outputs control signals to actuators (motor, fill valve, drain valve, door lock). This hierarchical design ensures synchronized operation of all components throughout the washing cycle.</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461968"/>
            <a:ext cx="6941463" cy="620078"/>
          </a:xfrm>
          <a:prstGeom prst="rect">
            <a:avLst/>
          </a:prstGeom>
          <a:noFill/>
          <a:ln/>
        </p:spPr>
        <p:txBody>
          <a:bodyPr wrap="none" lIns="0" tIns="0" rIns="0" bIns="0" rtlCol="0" anchor="t"/>
          <a:lstStyle/>
          <a:p>
            <a:pPr algn="l" indent="0" marL="0">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Control Logic Implementation</a:t>
            </a:r>
            <a:endParaRPr lang="en-US" sz="3900" dirty="0"/>
          </a:p>
        </p:txBody>
      </p:sp>
      <p:sp>
        <p:nvSpPr>
          <p:cNvPr id="3" name="Text 1"/>
          <p:cNvSpPr/>
          <p:nvPr/>
        </p:nvSpPr>
        <p:spPr>
          <a:xfrm>
            <a:off x="793790" y="2478881"/>
            <a:ext cx="13042821" cy="63507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The washing machine control system uses a finite state machine (FSM) with six distinct states: Check Door, Fill Water, Add Detergent, Cycle, Drain Water, and Spin. Each state manages specific operations and transitions based on sensor inputs.</a:t>
            </a:r>
            <a:endParaRPr lang="en-US" sz="1550" dirty="0"/>
          </a:p>
        </p:txBody>
      </p:sp>
      <p:sp>
        <p:nvSpPr>
          <p:cNvPr id="4" name="Shape 2"/>
          <p:cNvSpPr/>
          <p:nvPr/>
        </p:nvSpPr>
        <p:spPr>
          <a:xfrm>
            <a:off x="793790" y="3337203"/>
            <a:ext cx="13042821" cy="3430429"/>
          </a:xfrm>
          <a:prstGeom prst="roundRect">
            <a:avLst>
              <a:gd name="adj" fmla="val 868"/>
            </a:avLst>
          </a:prstGeom>
          <a:solidFill>
            <a:srgbClr val="EDEBE3"/>
          </a:solidFill>
          <a:ln/>
        </p:spPr>
      </p:sp>
      <p:sp>
        <p:nvSpPr>
          <p:cNvPr id="5" name="Shape 3"/>
          <p:cNvSpPr/>
          <p:nvPr/>
        </p:nvSpPr>
        <p:spPr>
          <a:xfrm>
            <a:off x="793790" y="3337203"/>
            <a:ext cx="6521410" cy="1143476"/>
          </a:xfrm>
          <a:prstGeom prst="roundRect">
            <a:avLst>
              <a:gd name="adj" fmla="val 2604"/>
            </a:avLst>
          </a:prstGeom>
          <a:solidFill>
            <a:srgbClr val="EDEBE3"/>
          </a:solidFill>
          <a:ln/>
        </p:spPr>
      </p:sp>
      <p:sp>
        <p:nvSpPr>
          <p:cNvPr id="6" name="Text 4"/>
          <p:cNvSpPr/>
          <p:nvPr/>
        </p:nvSpPr>
        <p:spPr>
          <a:xfrm>
            <a:off x="992148" y="353556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Check Door</a:t>
            </a:r>
            <a:endParaRPr lang="en-US" sz="1950" dirty="0"/>
          </a:p>
        </p:txBody>
      </p:sp>
      <p:sp>
        <p:nvSpPr>
          <p:cNvPr id="7" name="Text 5"/>
          <p:cNvSpPr/>
          <p:nvPr/>
        </p:nvSpPr>
        <p:spPr>
          <a:xfrm>
            <a:off x="992148" y="3964781"/>
            <a:ext cx="6124694" cy="317540"/>
          </a:xfrm>
          <a:prstGeom prst="rect">
            <a:avLst/>
          </a:prstGeom>
          <a:noFill/>
          <a:ln/>
        </p:spPr>
        <p:txBody>
          <a:bodyPr wrap="non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Verifies door closure and start signal before proceeding</a:t>
            </a:r>
            <a:endParaRPr lang="en-US" sz="1550" dirty="0"/>
          </a:p>
        </p:txBody>
      </p:sp>
      <p:sp>
        <p:nvSpPr>
          <p:cNvPr id="8" name="Shape 6"/>
          <p:cNvSpPr/>
          <p:nvPr/>
        </p:nvSpPr>
        <p:spPr>
          <a:xfrm>
            <a:off x="7315200" y="3337203"/>
            <a:ext cx="6521410" cy="1143476"/>
          </a:xfrm>
          <a:prstGeom prst="rect">
            <a:avLst/>
          </a:prstGeom>
          <a:solidFill>
            <a:srgbClr val="EDEBE3"/>
          </a:solidFill>
          <a:ln/>
        </p:spPr>
      </p:sp>
      <p:sp>
        <p:nvSpPr>
          <p:cNvPr id="9" name="Shape 7"/>
          <p:cNvSpPr/>
          <p:nvPr/>
        </p:nvSpPr>
        <p:spPr>
          <a:xfrm>
            <a:off x="7315200" y="3337203"/>
            <a:ext cx="22860" cy="1143476"/>
          </a:xfrm>
          <a:prstGeom prst="roundRect">
            <a:avLst>
              <a:gd name="adj" fmla="val 130232"/>
            </a:avLst>
          </a:prstGeom>
          <a:solidFill>
            <a:srgbClr val="D3D1C9"/>
          </a:solidFill>
          <a:ln/>
        </p:spPr>
      </p:sp>
      <p:sp>
        <p:nvSpPr>
          <p:cNvPr id="10" name="Text 8"/>
          <p:cNvSpPr/>
          <p:nvPr/>
        </p:nvSpPr>
        <p:spPr>
          <a:xfrm>
            <a:off x="7513558" y="3535561"/>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Fill Water</a:t>
            </a:r>
            <a:endParaRPr lang="en-US" sz="1950" dirty="0"/>
          </a:p>
        </p:txBody>
      </p:sp>
      <p:sp>
        <p:nvSpPr>
          <p:cNvPr id="11" name="Text 9"/>
          <p:cNvSpPr/>
          <p:nvPr/>
        </p:nvSpPr>
        <p:spPr>
          <a:xfrm>
            <a:off x="7513558" y="3964781"/>
            <a:ext cx="6124694" cy="317540"/>
          </a:xfrm>
          <a:prstGeom prst="rect">
            <a:avLst/>
          </a:prstGeom>
          <a:noFill/>
          <a:ln/>
        </p:spPr>
        <p:txBody>
          <a:bodyPr wrap="non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Opens fill valve until water level sensor confirms full tank</a:t>
            </a:r>
            <a:endParaRPr lang="en-US" sz="1550" dirty="0"/>
          </a:p>
        </p:txBody>
      </p:sp>
      <p:sp>
        <p:nvSpPr>
          <p:cNvPr id="12" name="Shape 10"/>
          <p:cNvSpPr/>
          <p:nvPr/>
        </p:nvSpPr>
        <p:spPr>
          <a:xfrm>
            <a:off x="793790" y="4480679"/>
            <a:ext cx="6521410" cy="1143476"/>
          </a:xfrm>
          <a:prstGeom prst="rect">
            <a:avLst/>
          </a:prstGeom>
          <a:solidFill>
            <a:srgbClr val="EDEBE3"/>
          </a:solidFill>
          <a:ln/>
        </p:spPr>
      </p:sp>
      <p:sp>
        <p:nvSpPr>
          <p:cNvPr id="13" name="Shape 11"/>
          <p:cNvSpPr/>
          <p:nvPr/>
        </p:nvSpPr>
        <p:spPr>
          <a:xfrm>
            <a:off x="793790" y="4480679"/>
            <a:ext cx="6521410" cy="22860"/>
          </a:xfrm>
          <a:prstGeom prst="roundRect">
            <a:avLst>
              <a:gd name="adj" fmla="val 130232"/>
            </a:avLst>
          </a:prstGeom>
          <a:solidFill>
            <a:srgbClr val="D3D1C9"/>
          </a:solidFill>
          <a:ln/>
        </p:spPr>
      </p:sp>
      <p:sp>
        <p:nvSpPr>
          <p:cNvPr id="14" name="Text 12"/>
          <p:cNvSpPr/>
          <p:nvPr/>
        </p:nvSpPr>
        <p:spPr>
          <a:xfrm>
            <a:off x="992148" y="467903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Add Detergent</a:t>
            </a:r>
            <a:endParaRPr lang="en-US" sz="1950" dirty="0"/>
          </a:p>
        </p:txBody>
      </p:sp>
      <p:sp>
        <p:nvSpPr>
          <p:cNvPr id="15" name="Text 13"/>
          <p:cNvSpPr/>
          <p:nvPr/>
        </p:nvSpPr>
        <p:spPr>
          <a:xfrm>
            <a:off x="992148" y="5108258"/>
            <a:ext cx="6124694" cy="317540"/>
          </a:xfrm>
          <a:prstGeom prst="rect">
            <a:avLst/>
          </a:prstGeom>
          <a:noFill/>
          <a:ln/>
        </p:spPr>
        <p:txBody>
          <a:bodyPr wrap="non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Dispenses detergent when signal received</a:t>
            </a:r>
            <a:endParaRPr lang="en-US" sz="1550" dirty="0"/>
          </a:p>
        </p:txBody>
      </p:sp>
      <p:sp>
        <p:nvSpPr>
          <p:cNvPr id="16" name="Shape 14"/>
          <p:cNvSpPr/>
          <p:nvPr/>
        </p:nvSpPr>
        <p:spPr>
          <a:xfrm>
            <a:off x="7315200" y="4480679"/>
            <a:ext cx="6521410" cy="1143476"/>
          </a:xfrm>
          <a:prstGeom prst="rect">
            <a:avLst/>
          </a:prstGeom>
          <a:solidFill>
            <a:srgbClr val="EDEBE3"/>
          </a:solidFill>
          <a:ln/>
        </p:spPr>
      </p:sp>
      <p:sp>
        <p:nvSpPr>
          <p:cNvPr id="17" name="Shape 15"/>
          <p:cNvSpPr/>
          <p:nvPr/>
        </p:nvSpPr>
        <p:spPr>
          <a:xfrm>
            <a:off x="7315200" y="4480679"/>
            <a:ext cx="22860" cy="1143476"/>
          </a:xfrm>
          <a:prstGeom prst="roundRect">
            <a:avLst>
              <a:gd name="adj" fmla="val 130232"/>
            </a:avLst>
          </a:prstGeom>
          <a:solidFill>
            <a:srgbClr val="D3D1C9"/>
          </a:solidFill>
          <a:ln/>
        </p:spPr>
      </p:sp>
      <p:sp>
        <p:nvSpPr>
          <p:cNvPr id="18" name="Shape 16"/>
          <p:cNvSpPr/>
          <p:nvPr/>
        </p:nvSpPr>
        <p:spPr>
          <a:xfrm>
            <a:off x="7315200" y="4480679"/>
            <a:ext cx="6521410" cy="22860"/>
          </a:xfrm>
          <a:prstGeom prst="roundRect">
            <a:avLst>
              <a:gd name="adj" fmla="val 130232"/>
            </a:avLst>
          </a:prstGeom>
          <a:solidFill>
            <a:srgbClr val="D3D1C9"/>
          </a:solidFill>
          <a:ln/>
        </p:spPr>
      </p:sp>
      <p:sp>
        <p:nvSpPr>
          <p:cNvPr id="19" name="Text 17"/>
          <p:cNvSpPr/>
          <p:nvPr/>
        </p:nvSpPr>
        <p:spPr>
          <a:xfrm>
            <a:off x="7513558" y="4679037"/>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Cycle</a:t>
            </a:r>
            <a:endParaRPr lang="en-US" sz="1950" dirty="0"/>
          </a:p>
        </p:txBody>
      </p:sp>
      <p:sp>
        <p:nvSpPr>
          <p:cNvPr id="20" name="Text 18"/>
          <p:cNvSpPr/>
          <p:nvPr/>
        </p:nvSpPr>
        <p:spPr>
          <a:xfrm>
            <a:off x="7513558" y="5108258"/>
            <a:ext cx="6124694" cy="317540"/>
          </a:xfrm>
          <a:prstGeom prst="rect">
            <a:avLst/>
          </a:prstGeom>
          <a:noFill/>
          <a:ln/>
        </p:spPr>
        <p:txBody>
          <a:bodyPr wrap="non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Activates motor for washing duration</a:t>
            </a:r>
            <a:endParaRPr lang="en-US" sz="1550" dirty="0"/>
          </a:p>
        </p:txBody>
      </p:sp>
      <p:sp>
        <p:nvSpPr>
          <p:cNvPr id="21" name="Shape 19"/>
          <p:cNvSpPr/>
          <p:nvPr/>
        </p:nvSpPr>
        <p:spPr>
          <a:xfrm>
            <a:off x="793790" y="5624155"/>
            <a:ext cx="6521410" cy="1143476"/>
          </a:xfrm>
          <a:prstGeom prst="rect">
            <a:avLst/>
          </a:prstGeom>
          <a:solidFill>
            <a:srgbClr val="EDEBE3"/>
          </a:solidFill>
          <a:ln/>
        </p:spPr>
      </p:sp>
      <p:sp>
        <p:nvSpPr>
          <p:cNvPr id="22" name="Shape 20"/>
          <p:cNvSpPr/>
          <p:nvPr/>
        </p:nvSpPr>
        <p:spPr>
          <a:xfrm>
            <a:off x="793790" y="5624155"/>
            <a:ext cx="6521410" cy="22860"/>
          </a:xfrm>
          <a:prstGeom prst="roundRect">
            <a:avLst>
              <a:gd name="adj" fmla="val 130232"/>
            </a:avLst>
          </a:prstGeom>
          <a:solidFill>
            <a:srgbClr val="D3D1C9"/>
          </a:solidFill>
          <a:ln/>
        </p:spPr>
      </p:sp>
      <p:sp>
        <p:nvSpPr>
          <p:cNvPr id="23" name="Text 21"/>
          <p:cNvSpPr/>
          <p:nvPr/>
        </p:nvSpPr>
        <p:spPr>
          <a:xfrm>
            <a:off x="992148" y="582251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Drain Water</a:t>
            </a:r>
            <a:endParaRPr lang="en-US" sz="1950" dirty="0"/>
          </a:p>
        </p:txBody>
      </p:sp>
      <p:sp>
        <p:nvSpPr>
          <p:cNvPr id="24" name="Text 22"/>
          <p:cNvSpPr/>
          <p:nvPr/>
        </p:nvSpPr>
        <p:spPr>
          <a:xfrm>
            <a:off x="992148" y="6251734"/>
            <a:ext cx="6124694" cy="317540"/>
          </a:xfrm>
          <a:prstGeom prst="rect">
            <a:avLst/>
          </a:prstGeom>
          <a:noFill/>
          <a:ln/>
        </p:spPr>
        <p:txBody>
          <a:bodyPr wrap="non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Opens drain valve until empty</a:t>
            </a:r>
            <a:endParaRPr lang="en-US" sz="1550" dirty="0"/>
          </a:p>
        </p:txBody>
      </p:sp>
      <p:sp>
        <p:nvSpPr>
          <p:cNvPr id="25" name="Shape 23"/>
          <p:cNvSpPr/>
          <p:nvPr/>
        </p:nvSpPr>
        <p:spPr>
          <a:xfrm>
            <a:off x="7315200" y="5624155"/>
            <a:ext cx="6521410" cy="1143476"/>
          </a:xfrm>
          <a:prstGeom prst="rect">
            <a:avLst/>
          </a:prstGeom>
          <a:solidFill>
            <a:srgbClr val="EDEBE3"/>
          </a:solidFill>
          <a:ln/>
        </p:spPr>
      </p:sp>
      <p:sp>
        <p:nvSpPr>
          <p:cNvPr id="26" name="Shape 24"/>
          <p:cNvSpPr/>
          <p:nvPr/>
        </p:nvSpPr>
        <p:spPr>
          <a:xfrm>
            <a:off x="7315200" y="5624155"/>
            <a:ext cx="22860" cy="1143476"/>
          </a:xfrm>
          <a:prstGeom prst="roundRect">
            <a:avLst>
              <a:gd name="adj" fmla="val 130232"/>
            </a:avLst>
          </a:prstGeom>
          <a:solidFill>
            <a:srgbClr val="D3D1C9"/>
          </a:solidFill>
          <a:ln/>
        </p:spPr>
      </p:sp>
      <p:sp>
        <p:nvSpPr>
          <p:cNvPr id="27" name="Shape 25"/>
          <p:cNvSpPr/>
          <p:nvPr/>
        </p:nvSpPr>
        <p:spPr>
          <a:xfrm>
            <a:off x="7315200" y="5624155"/>
            <a:ext cx="6521410" cy="22860"/>
          </a:xfrm>
          <a:prstGeom prst="roundRect">
            <a:avLst>
              <a:gd name="adj" fmla="val 130232"/>
            </a:avLst>
          </a:prstGeom>
          <a:solidFill>
            <a:srgbClr val="D3D1C9"/>
          </a:solidFill>
          <a:ln/>
        </p:spPr>
      </p:sp>
      <p:sp>
        <p:nvSpPr>
          <p:cNvPr id="28" name="Text 26"/>
          <p:cNvSpPr/>
          <p:nvPr/>
        </p:nvSpPr>
        <p:spPr>
          <a:xfrm>
            <a:off x="7513558" y="5822513"/>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Spin</a:t>
            </a:r>
            <a:endParaRPr lang="en-US" sz="1950" dirty="0"/>
          </a:p>
        </p:txBody>
      </p:sp>
      <p:sp>
        <p:nvSpPr>
          <p:cNvPr id="29" name="Text 27"/>
          <p:cNvSpPr/>
          <p:nvPr/>
        </p:nvSpPr>
        <p:spPr>
          <a:xfrm>
            <a:off x="7513558" y="6251734"/>
            <a:ext cx="6124694" cy="317540"/>
          </a:xfrm>
          <a:prstGeom prst="rect">
            <a:avLst/>
          </a:prstGeom>
          <a:noFill/>
          <a:ln/>
        </p:spPr>
        <p:txBody>
          <a:bodyPr wrap="non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Spins drum to remove excess water</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956554"/>
            <a:ext cx="7461409" cy="620078"/>
          </a:xfrm>
          <a:prstGeom prst="rect">
            <a:avLst/>
          </a:prstGeom>
          <a:noFill/>
          <a:ln/>
        </p:spPr>
        <p:txBody>
          <a:bodyPr wrap="none" lIns="0" tIns="0" rIns="0" bIns="0" rtlCol="0" anchor="t"/>
          <a:lstStyle/>
          <a:p>
            <a:pPr algn="l" indent="0" marL="0">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RTL Design &amp; Simulation Results</a:t>
            </a:r>
            <a:endParaRPr lang="en-US" sz="3900" dirty="0"/>
          </a:p>
        </p:txBody>
      </p:sp>
      <p:sp>
        <p:nvSpPr>
          <p:cNvPr id="4" name="Text 1"/>
          <p:cNvSpPr/>
          <p:nvPr/>
        </p:nvSpPr>
        <p:spPr>
          <a:xfrm>
            <a:off x="6280190" y="2874288"/>
            <a:ext cx="7556421" cy="127015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The RTL (Register Transfer Level) design translates the high-level washing algorithm into detailed hardware descriptions using Verilog. This critical stage creates modules for water level control, motor management, cycle timing, and sensor interfacing, ensuring efficient synchronization of all operations.</a:t>
            </a:r>
            <a:endParaRPr lang="en-US" sz="1550" dirty="0"/>
          </a:p>
        </p:txBody>
      </p:sp>
      <p:sp>
        <p:nvSpPr>
          <p:cNvPr id="5" name="Text 2"/>
          <p:cNvSpPr/>
          <p:nvPr/>
        </p:nvSpPr>
        <p:spPr>
          <a:xfrm>
            <a:off x="6280190" y="4367689"/>
            <a:ext cx="7556421" cy="1905238"/>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Extensive simulations using Xilinx Vivado validated the RTL design under various real-world scenarios. The simulation environment tested filling, washing, rinsing, and spinning operations under different conditions. Results confirmed correct control logic operation, appropriate sensor response, and proper cycle management. Key performance metrics including cycle time, water usage, and energy efficiency were verified to meet design specifications.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805345"/>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FPGA Implementation &amp; Hardware Testing</a:t>
            </a:r>
            <a:endParaRPr lang="en-US" sz="3900" dirty="0"/>
          </a:p>
        </p:txBody>
      </p:sp>
      <p:sp>
        <p:nvSpPr>
          <p:cNvPr id="4" name="Text 1"/>
          <p:cNvSpPr/>
          <p:nvPr/>
        </p:nvSpPr>
        <p:spPr>
          <a:xfrm>
            <a:off x="793790" y="3343156"/>
            <a:ext cx="7556421" cy="127015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The verified RTL design was synthesized into a bitstream and implemented on the Digilent Nexys 4 DDR Artix-7 FPGA board. This real hardware environment enables comprehensive testing of the washing machine control system with actual sensor inputs and actuator outputs.</a:t>
            </a:r>
            <a:endParaRPr lang="en-US" sz="1550" dirty="0"/>
          </a:p>
        </p:txBody>
      </p:sp>
      <p:sp>
        <p:nvSpPr>
          <p:cNvPr id="5" name="Text 2"/>
          <p:cNvSpPr/>
          <p:nvPr/>
        </p:nvSpPr>
        <p:spPr>
          <a:xfrm>
            <a:off x="793790" y="4836557"/>
            <a:ext cx="7556421" cy="1587698"/>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The Nexys 4's rich I/O peripherals and built-in features facilitate thorough validation of system performance. The FPGA's flexibility allows for design adjustments and optimizations based on hardware test results, ensuring the final implementation is robust, reliable, and ready for practical deployment in household appliances.</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480905"/>
          </a:xfrm>
          <a:prstGeom prst="rect">
            <a:avLst/>
          </a:prstGeom>
        </p:spPr>
      </p:pic>
      <p:sp>
        <p:nvSpPr>
          <p:cNvPr id="3" name="Text 0"/>
          <p:cNvSpPr/>
          <p:nvPr/>
        </p:nvSpPr>
        <p:spPr>
          <a:xfrm>
            <a:off x="793790" y="3507938"/>
            <a:ext cx="8962668" cy="620078"/>
          </a:xfrm>
          <a:prstGeom prst="rect">
            <a:avLst/>
          </a:prstGeom>
          <a:noFill/>
          <a:ln/>
        </p:spPr>
        <p:txBody>
          <a:bodyPr wrap="none" lIns="0" tIns="0" rIns="0" bIns="0" rtlCol="0" anchor="t"/>
          <a:lstStyle/>
          <a:p>
            <a:pPr algn="l" indent="0" marL="0">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Key Achievements &amp; Future Directions</a:t>
            </a:r>
            <a:endParaRPr lang="en-US" sz="3900" dirty="0"/>
          </a:p>
        </p:txBody>
      </p:sp>
      <p:sp>
        <p:nvSpPr>
          <p:cNvPr id="4" name="Shape 1"/>
          <p:cNvSpPr/>
          <p:nvPr/>
        </p:nvSpPr>
        <p:spPr>
          <a:xfrm>
            <a:off x="793790" y="4425672"/>
            <a:ext cx="4215289" cy="2776895"/>
          </a:xfrm>
          <a:prstGeom prst="roundRect">
            <a:avLst>
              <a:gd name="adj" fmla="val 3951"/>
            </a:avLst>
          </a:prstGeom>
          <a:solidFill>
            <a:srgbClr val="F9F8F5"/>
          </a:solidFill>
          <a:ln w="22860">
            <a:solidFill>
              <a:srgbClr val="D3D1C9"/>
            </a:solidFill>
            <a:prstDash val="solid"/>
          </a:ln>
        </p:spPr>
      </p:sp>
      <p:sp>
        <p:nvSpPr>
          <p:cNvPr id="5" name="Shape 2"/>
          <p:cNvSpPr/>
          <p:nvPr/>
        </p:nvSpPr>
        <p:spPr>
          <a:xfrm>
            <a:off x="770930" y="4425672"/>
            <a:ext cx="91440" cy="2776895"/>
          </a:xfrm>
          <a:prstGeom prst="roundRect">
            <a:avLst>
              <a:gd name="adj" fmla="val 32558"/>
            </a:avLst>
          </a:prstGeom>
          <a:solidFill>
            <a:srgbClr val="28282F"/>
          </a:solidFill>
          <a:ln/>
        </p:spPr>
      </p:sp>
      <p:sp>
        <p:nvSpPr>
          <p:cNvPr id="6" name="Text 3"/>
          <p:cNvSpPr/>
          <p:nvPr/>
        </p:nvSpPr>
        <p:spPr>
          <a:xfrm>
            <a:off x="1083588" y="464689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Successful Design</a:t>
            </a:r>
            <a:endParaRPr lang="en-US" sz="1950" dirty="0"/>
          </a:p>
        </p:txBody>
      </p:sp>
      <p:sp>
        <p:nvSpPr>
          <p:cNvPr id="7" name="Text 4"/>
          <p:cNvSpPr/>
          <p:nvPr/>
        </p:nvSpPr>
        <p:spPr>
          <a:xfrm>
            <a:off x="1083588" y="5076111"/>
            <a:ext cx="3704273" cy="127015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Demonstrated feasibility of FPGA technology for complex household appliance control systems with reliable operation across all washing cycles.</a:t>
            </a:r>
            <a:endParaRPr lang="en-US" sz="1550" dirty="0"/>
          </a:p>
        </p:txBody>
      </p:sp>
      <p:sp>
        <p:nvSpPr>
          <p:cNvPr id="8" name="Shape 5"/>
          <p:cNvSpPr/>
          <p:nvPr/>
        </p:nvSpPr>
        <p:spPr>
          <a:xfrm>
            <a:off x="5207437" y="4425672"/>
            <a:ext cx="4215408" cy="2776895"/>
          </a:xfrm>
          <a:prstGeom prst="roundRect">
            <a:avLst>
              <a:gd name="adj" fmla="val 3951"/>
            </a:avLst>
          </a:prstGeom>
          <a:solidFill>
            <a:srgbClr val="F9F8F5"/>
          </a:solidFill>
          <a:ln w="22860">
            <a:solidFill>
              <a:srgbClr val="D3D1C9"/>
            </a:solidFill>
            <a:prstDash val="solid"/>
          </a:ln>
        </p:spPr>
      </p:sp>
      <p:sp>
        <p:nvSpPr>
          <p:cNvPr id="9" name="Shape 6"/>
          <p:cNvSpPr/>
          <p:nvPr/>
        </p:nvSpPr>
        <p:spPr>
          <a:xfrm>
            <a:off x="5184577" y="4425672"/>
            <a:ext cx="91440" cy="2776895"/>
          </a:xfrm>
          <a:prstGeom prst="roundRect">
            <a:avLst>
              <a:gd name="adj" fmla="val 32558"/>
            </a:avLst>
          </a:prstGeom>
          <a:solidFill>
            <a:srgbClr val="28282F"/>
          </a:solidFill>
          <a:ln/>
        </p:spPr>
      </p:sp>
      <p:sp>
        <p:nvSpPr>
          <p:cNvPr id="10" name="Text 7"/>
          <p:cNvSpPr/>
          <p:nvPr/>
        </p:nvSpPr>
        <p:spPr>
          <a:xfrm>
            <a:off x="5497235" y="4646890"/>
            <a:ext cx="2667833"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Validated Performance</a:t>
            </a:r>
            <a:endParaRPr lang="en-US" sz="1950" dirty="0"/>
          </a:p>
        </p:txBody>
      </p:sp>
      <p:sp>
        <p:nvSpPr>
          <p:cNvPr id="11" name="Text 8"/>
          <p:cNvSpPr/>
          <p:nvPr/>
        </p:nvSpPr>
        <p:spPr>
          <a:xfrm>
            <a:off x="5497235" y="5076111"/>
            <a:ext cx="3704392" cy="1587698"/>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RTL simulation and hardware testing confirmed correct functionality, sensor responsiveness, and efficient cycle management under diverse operating conditions.</a:t>
            </a:r>
            <a:endParaRPr lang="en-US" sz="1550" dirty="0"/>
          </a:p>
        </p:txBody>
      </p:sp>
      <p:sp>
        <p:nvSpPr>
          <p:cNvPr id="12" name="Shape 9"/>
          <p:cNvSpPr/>
          <p:nvPr/>
        </p:nvSpPr>
        <p:spPr>
          <a:xfrm>
            <a:off x="9621203" y="4425672"/>
            <a:ext cx="4215289" cy="2776895"/>
          </a:xfrm>
          <a:prstGeom prst="roundRect">
            <a:avLst>
              <a:gd name="adj" fmla="val 3951"/>
            </a:avLst>
          </a:prstGeom>
          <a:solidFill>
            <a:srgbClr val="F9F8F5"/>
          </a:solidFill>
          <a:ln w="22860">
            <a:solidFill>
              <a:srgbClr val="D3D1C9"/>
            </a:solidFill>
            <a:prstDash val="solid"/>
          </a:ln>
        </p:spPr>
      </p:sp>
      <p:sp>
        <p:nvSpPr>
          <p:cNvPr id="13" name="Shape 10"/>
          <p:cNvSpPr/>
          <p:nvPr/>
        </p:nvSpPr>
        <p:spPr>
          <a:xfrm>
            <a:off x="9598343" y="4425672"/>
            <a:ext cx="91440" cy="2776895"/>
          </a:xfrm>
          <a:prstGeom prst="roundRect">
            <a:avLst>
              <a:gd name="adj" fmla="val 32558"/>
            </a:avLst>
          </a:prstGeom>
          <a:solidFill>
            <a:srgbClr val="28282F"/>
          </a:solidFill>
          <a:ln/>
        </p:spPr>
      </p:sp>
      <p:sp>
        <p:nvSpPr>
          <p:cNvPr id="14" name="Text 11"/>
          <p:cNvSpPr/>
          <p:nvPr/>
        </p:nvSpPr>
        <p:spPr>
          <a:xfrm>
            <a:off x="9911001" y="4646890"/>
            <a:ext cx="2480905" cy="310158"/>
          </a:xfrm>
          <a:prstGeom prst="rect">
            <a:avLst/>
          </a:prstGeom>
          <a:noFill/>
          <a:ln/>
        </p:spPr>
        <p:txBody>
          <a:bodyPr wrap="none" lIns="0" tIns="0" rIns="0" bIns="0" rtlCol="0" anchor="t"/>
          <a:lstStyle/>
          <a:p>
            <a:pPr algn="l" indent="0" marL="0">
              <a:lnSpc>
                <a:spcPts val="2400"/>
              </a:lnSpc>
              <a:buNone/>
            </a:pPr>
            <a:r>
              <a:rPr lang="en-US" sz="1950" dirty="0">
                <a:solidFill>
                  <a:srgbClr val="161613"/>
                </a:solidFill>
                <a:latin typeface="DM Sans Medium" pitchFamily="34" charset="0"/>
                <a:ea typeface="DM Sans Medium" pitchFamily="34" charset="-122"/>
                <a:cs typeface="DM Sans Medium" pitchFamily="34" charset="-120"/>
              </a:rPr>
              <a:t>Future Optimization</a:t>
            </a:r>
            <a:endParaRPr lang="en-US" sz="1950" dirty="0"/>
          </a:p>
        </p:txBody>
      </p:sp>
      <p:sp>
        <p:nvSpPr>
          <p:cNvPr id="15" name="Text 12"/>
          <p:cNvSpPr/>
          <p:nvPr/>
        </p:nvSpPr>
        <p:spPr>
          <a:xfrm>
            <a:off x="9911001" y="5076111"/>
            <a:ext cx="3704273" cy="1905238"/>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Planned enhancements include power consumption optimization, remote control capabilities, and machine learning-based cycle optimization for improved efficiency and user experience.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64563"/>
            <a:ext cx="5663446" cy="620078"/>
          </a:xfrm>
          <a:prstGeom prst="rect">
            <a:avLst/>
          </a:prstGeom>
          <a:noFill/>
          <a:ln/>
        </p:spPr>
        <p:txBody>
          <a:bodyPr wrap="none" lIns="0" tIns="0" rIns="0" bIns="0" rtlCol="0" anchor="t"/>
          <a:lstStyle/>
          <a:p>
            <a:pPr algn="l" indent="0" marL="0">
              <a:lnSpc>
                <a:spcPts val="4850"/>
              </a:lnSpc>
              <a:buNone/>
            </a:pPr>
            <a:r>
              <a:rPr lang="en-US" sz="3900" dirty="0">
                <a:solidFill>
                  <a:srgbClr val="161613"/>
                </a:solidFill>
                <a:latin typeface="DM Sans Medium" pitchFamily="34" charset="0"/>
                <a:ea typeface="DM Sans Medium" pitchFamily="34" charset="-122"/>
                <a:cs typeface="DM Sans Medium" pitchFamily="34" charset="-120"/>
              </a:rPr>
              <a:t>Conclusion &amp; Resources</a:t>
            </a:r>
            <a:endParaRPr lang="en-US" sz="3900" dirty="0"/>
          </a:p>
        </p:txBody>
      </p:sp>
      <p:sp>
        <p:nvSpPr>
          <p:cNvPr id="4" name="Text 1"/>
          <p:cNvSpPr/>
          <p:nvPr/>
        </p:nvSpPr>
        <p:spPr>
          <a:xfrm>
            <a:off x="793790" y="2182297"/>
            <a:ext cx="7556421" cy="1587698"/>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This project successfully demonstrates the design, simulation, and implementation of an FPGA-based automatic washing machine control system. The work highlights the critical importance of RTL design methodology and comprehensive simulation in developing reliable, efficient control systems for modern household appliances.</a:t>
            </a:r>
            <a:endParaRPr lang="en-US" sz="1550" dirty="0"/>
          </a:p>
        </p:txBody>
      </p:sp>
      <p:sp>
        <p:nvSpPr>
          <p:cNvPr id="5" name="Text 2"/>
          <p:cNvSpPr/>
          <p:nvPr/>
        </p:nvSpPr>
        <p:spPr>
          <a:xfrm>
            <a:off x="793790" y="3993237"/>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161613"/>
                </a:solidFill>
                <a:latin typeface="Inter" pitchFamily="34" charset="0"/>
                <a:ea typeface="Inter" pitchFamily="34" charset="-122"/>
                <a:cs typeface="Inter" pitchFamily="34" charset="-120"/>
              </a:rPr>
              <a:t>The integration of digital electronics, FPGA technology, and intelligent sensor systems showcases how advanced engineering principles transform everyday appliances into sophisticated, user-friendly devices that enhance quality of life.</a:t>
            </a:r>
            <a:endParaRPr lang="en-US" sz="1550" dirty="0"/>
          </a:p>
        </p:txBody>
      </p:sp>
      <p:sp>
        <p:nvSpPr>
          <p:cNvPr id="6" name="Shape 3"/>
          <p:cNvSpPr/>
          <p:nvPr/>
        </p:nvSpPr>
        <p:spPr>
          <a:xfrm>
            <a:off x="793790" y="5169098"/>
            <a:ext cx="7556421" cy="1795820"/>
          </a:xfrm>
          <a:prstGeom prst="roundRect">
            <a:avLst>
              <a:gd name="adj" fmla="val 1658"/>
            </a:avLst>
          </a:prstGeom>
          <a:solidFill>
            <a:srgbClr val="D6D6DC"/>
          </a:solidFill>
          <a:ln/>
        </p:spPr>
      </p:sp>
      <p:pic>
        <p:nvPicPr>
          <p:cNvPr id="7" name="Image 1" descr="preencoded.png">    </p:cNvPr>
          <p:cNvPicPr>
            <a:picLocks noChangeAspect="1"/>
          </p:cNvPicPr>
          <p:nvPr/>
        </p:nvPicPr>
        <p:blipFill>
          <a:blip r:embed="rId2"/>
          <a:stretch>
            <a:fillRect/>
          </a:stretch>
        </p:blipFill>
        <p:spPr>
          <a:xfrm>
            <a:off x="992148" y="5471993"/>
            <a:ext cx="248007" cy="198358"/>
          </a:xfrm>
          <a:prstGeom prst="rect">
            <a:avLst/>
          </a:prstGeom>
        </p:spPr>
      </p:pic>
      <p:sp>
        <p:nvSpPr>
          <p:cNvPr id="8" name="Text 4"/>
          <p:cNvSpPr/>
          <p:nvPr/>
        </p:nvSpPr>
        <p:spPr>
          <a:xfrm>
            <a:off x="1438513" y="5416987"/>
            <a:ext cx="6713339" cy="1270159"/>
          </a:xfrm>
          <a:prstGeom prst="rect">
            <a:avLst/>
          </a:prstGeom>
          <a:noFill/>
          <a:ln/>
        </p:spPr>
        <p:txBody>
          <a:bodyPr wrap="square" lIns="0" tIns="0" rIns="0" bIns="0" rtlCol="0" anchor="t"/>
          <a:lstStyle/>
          <a:p>
            <a:pPr algn="l" indent="0" marL="0">
              <a:lnSpc>
                <a:spcPts val="2500"/>
              </a:lnSpc>
              <a:buNone/>
            </a:pPr>
            <a:r>
              <a:rPr lang="en-US" sz="1550" b="1" dirty="0">
                <a:solidFill>
                  <a:srgbClr val="000000"/>
                </a:solidFill>
                <a:latin typeface="Inter" pitchFamily="34" charset="0"/>
                <a:ea typeface="Inter" pitchFamily="34" charset="-122"/>
                <a:cs typeface="Inter" pitchFamily="34" charset="-120"/>
              </a:rPr>
              <a:t>Project Resources:</a:t>
            </a:r>
            <a:pPr algn="l" indent="0" marL="0">
              <a:lnSpc>
                <a:spcPts val="2500"/>
              </a:lnSpc>
              <a:buNone/>
            </a:pPr>
            <a:r>
              <a:rPr lang="en-US" sz="1550" dirty="0">
                <a:solidFill>
                  <a:srgbClr val="000000"/>
                </a:solidFill>
                <a:latin typeface="Inter" pitchFamily="34" charset="0"/>
                <a:ea typeface="Inter" pitchFamily="34" charset="-122"/>
                <a:cs typeface="Inter" pitchFamily="34" charset="-120"/>
              </a:rPr>
              <a:t> Complete video tutorials and Xilinx Vivado setup guides available at the project repository. Reference materials include Digilent FPGA documentation and Xilinx design tools documentation for further learning and implementation.</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2025-11-07T03:37:07Z</dcterms:created>
  <dcterms:modified xsi:type="dcterms:W3CDTF">2025-11-07T03:37:07Z</dcterms:modified>
</cp:coreProperties>
</file>